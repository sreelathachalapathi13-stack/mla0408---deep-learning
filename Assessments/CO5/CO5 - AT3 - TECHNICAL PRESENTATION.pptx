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390482-C21C-692B-DB54-88CF00F176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B9F7F2-61AE-2961-957D-71866009CB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4F24F6-C972-9348-723D-CC50A4CE27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1B519-10CA-4332-A7C6-E39A8EDE104D}" type="datetimeFigureOut">
              <a:rPr lang="en-IN" smtClean="0"/>
              <a:t>25-08-2026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329681-EBFF-3938-2F0A-1BF0C4DB87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6D6670-4C05-7395-B4E1-08CDADD847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9AD2A4-EDA7-475F-B9C4-CE89685FE7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3040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A7625B-1C35-2528-B525-542CE4C7FB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BB32BB-FF66-38F9-B5F7-27D44E54BC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9C7BCD-948C-211E-82ED-C8DFFA0351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1B519-10CA-4332-A7C6-E39A8EDE104D}" type="datetimeFigureOut">
              <a:rPr lang="en-IN" smtClean="0"/>
              <a:t>25-08-2026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5B2E6D-02EE-4BDA-CB14-4F864A788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AA298B-CCA2-90E1-202A-D6A5B0BC38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9AD2A4-EDA7-475F-B9C4-CE89685FE7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84693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7E7E01-0197-6B58-78AD-550CF57931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2A6EB5-6110-2A8F-FE6B-9B269CEDA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761754-3722-E100-05A4-85CAA238F9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1B519-10CA-4332-A7C6-E39A8EDE104D}" type="datetimeFigureOut">
              <a:rPr lang="en-IN" smtClean="0"/>
              <a:t>25-08-2026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A727FC-52F4-3418-F7CB-D469B01EA8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143EEB-7B74-CE2B-966B-74EC317CA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9AD2A4-EDA7-475F-B9C4-CE89685FE7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10555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F94EA0-09A7-4CA7-2D82-2F85FDA93C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352D13-66A4-1CB4-0B51-CA8A23A56B1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1D26AB-0652-3F7D-E3E2-90B87C5A76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772993-A0E4-0FDC-83FA-E449048B2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1B519-10CA-4332-A7C6-E39A8EDE104D}" type="datetimeFigureOut">
              <a:rPr lang="en-IN" smtClean="0"/>
              <a:t>25-08-2026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4E9C6D-12AB-F6D1-B9C6-2C71FB235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833A3D-37F8-E7C8-7675-6ADFCDA49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9AD2A4-EDA7-475F-B9C4-CE89685FE7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30490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DC5912-4FAE-153E-C5A3-A7CD7823E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66F22A-01E4-095E-B88B-988BD41B6D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07827C-0B4F-0261-035E-86EBDF5AB3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1EBA007-24EC-5FFB-472E-5604DE0CCB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9A57249-59B6-17DD-1D0D-3094253AD4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E19C247-B8BD-320F-3BC3-66CC75180F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1B519-10CA-4332-A7C6-E39A8EDE104D}" type="datetimeFigureOut">
              <a:rPr lang="en-IN" smtClean="0"/>
              <a:t>25-08-2026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75EC5A3-2CF1-57B8-5DFC-898B83BB26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9E93C0E-3D56-E4B6-2C3E-0ABC8432E9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9AD2A4-EDA7-475F-B9C4-CE89685FE7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58584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300EB-9492-A71D-2A7B-D4D6C598B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BAD594-67A2-9BD5-CE43-0AEC5ED9CE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1B519-10CA-4332-A7C6-E39A8EDE104D}" type="datetimeFigureOut">
              <a:rPr lang="en-IN" smtClean="0"/>
              <a:t>25-08-2026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9E4313-DC10-1D70-4EE4-0B2B53E16A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1D9D1F-5EA1-EF7F-415B-4234574DD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9AD2A4-EDA7-475F-B9C4-CE89685FE7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89966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C7D35E-3ACE-D636-CA95-9700C0B7DA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1B519-10CA-4332-A7C6-E39A8EDE104D}" type="datetimeFigureOut">
              <a:rPr lang="en-IN" smtClean="0"/>
              <a:t>25-08-2026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C1EE5BE-ED26-A93C-5B08-F31C63D9EC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CD2F16-7BC2-79C1-063A-95B2AFECB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9AD2A4-EDA7-475F-B9C4-CE89685FE7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29876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73BDE-BD62-694F-B1DE-71BA9AD6BA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AA252C-7862-C4A2-9D90-3A127A5D54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264F31-2AC6-D2C7-C40E-84590C1E7D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6CA694-62E4-E252-5911-46723C2593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1B519-10CA-4332-A7C6-E39A8EDE104D}" type="datetimeFigureOut">
              <a:rPr lang="en-IN" smtClean="0"/>
              <a:t>25-08-2026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4181DF-271A-CF3A-542E-A1D92A95F8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82BD64-24AF-7479-32B7-FCB24ACEB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9AD2A4-EDA7-475F-B9C4-CE89685FE7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910651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EA577A-34BC-2761-CCD5-72C185AAC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FAE21C7-1D44-9F77-8E11-4FDA2D43A8A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09EFDA-2AAD-3389-36F4-B8BCF1F5ED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D34F6B-2887-C414-EEBD-8B7D624E71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1B519-10CA-4332-A7C6-E39A8EDE104D}" type="datetimeFigureOut">
              <a:rPr lang="en-IN" smtClean="0"/>
              <a:t>25-08-2026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2A2724-7AD8-E78D-10F4-E347077ACE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816EA1-CFF9-A87A-6B15-22B00F5AB2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9AD2A4-EDA7-475F-B9C4-CE89685FE7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6934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39597-590B-D920-6034-1E38C56308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63ACCB-F061-480E-4839-59E0586FE2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352FFE-EAEF-1005-065D-BB7DF228F4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1B519-10CA-4332-A7C6-E39A8EDE104D}" type="datetimeFigureOut">
              <a:rPr lang="en-IN" smtClean="0"/>
              <a:t>25-08-2026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10E1EB-7C08-06CF-692B-C7AEABE5B3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3970E7-820B-9D92-8BC6-03423BCF7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9AD2A4-EDA7-475F-B9C4-CE89685FE7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08307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C260157-9685-38FF-0882-CC537A341A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43B2A5-FC96-875A-6AD2-6D23264471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949BAA-E8CC-19B5-988F-51FFF5A02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1B519-10CA-4332-A7C6-E39A8EDE104D}" type="datetimeFigureOut">
              <a:rPr lang="en-IN" smtClean="0"/>
              <a:t>25-08-2026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86BBF9-EAA6-5243-A8AF-0021AAB16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4E92A3-5910-77DC-4D55-CDD12923D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9AD2A4-EDA7-475F-B9C4-CE89685FE7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03665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D2A4CA0-ADB1-E8B8-661E-77300485AB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E760F7-CEF2-3EE1-C319-7FB3AC2632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206B2C-D014-BC12-7480-0290282F7F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81B519-10CA-4332-A7C6-E39A8EDE104D}" type="datetimeFigureOut">
              <a:rPr lang="en-IN" smtClean="0"/>
              <a:t>25-08-2026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BC1718-E5B1-6F44-A988-DC661A48A2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72DB08-2605-E543-7179-08CD0FBC05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9AD2A4-EDA7-475F-B9C4-CE89685FE7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80027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9D19D7-BA53-6EAE-6A3A-23523AA537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35510" y="1802735"/>
            <a:ext cx="9144000" cy="1799303"/>
          </a:xfrm>
        </p:spPr>
        <p:txBody>
          <a:bodyPr>
            <a:normAutofit fontScale="90000"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Boltzmann Machines: Architecture, Learning Mechanism and Applications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343789-1C4E-08D0-BA2E-2493727A70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1"/>
          </a:xfrm>
        </p:spPr>
        <p:txBody>
          <a:bodyPr>
            <a:normAutofit fontScale="85000" lnSpcReduction="10000"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MLA0408 – Deep Learning</a:t>
            </a:r>
          </a:p>
          <a:p>
            <a:endParaRPr lang="en-IN" dirty="0"/>
          </a:p>
          <a:p>
            <a:r>
              <a:rPr lang="da-DK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                                       PRESENTATION BY</a:t>
            </a:r>
            <a:r>
              <a:rPr lang="da-DK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da-DK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da-DK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            k Sreelatha(192425248)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40DE905-C0B7-E2C0-2AFC-F2DE571552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603" y="148019"/>
            <a:ext cx="909638" cy="10348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25549A74-DCB5-FD2F-A616-51D550BC82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8453" y="53618"/>
            <a:ext cx="909637" cy="1129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CEC5C1A-F8A6-87BB-F959-D1EDD6A13D40}"/>
              </a:ext>
            </a:extLst>
          </p:cNvPr>
          <p:cNvSpPr txBox="1"/>
          <p:nvPr/>
        </p:nvSpPr>
        <p:spPr>
          <a:xfrm>
            <a:off x="2045109" y="77739"/>
            <a:ext cx="8622891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accent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</a:t>
            </a:r>
            <a:r>
              <a:rPr lang="en-US" sz="2400" b="1" dirty="0">
                <a:solidFill>
                  <a:schemeClr val="accent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SIMATS ENGINEERING</a:t>
            </a:r>
            <a:br>
              <a:rPr lang="en-US" sz="2400" b="1" dirty="0">
                <a:solidFill>
                  <a:schemeClr val="accent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chemeClr val="accent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Saveetha Institute of Medical and Technical Sciences</a:t>
            </a:r>
            <a:br>
              <a:rPr lang="en-US" sz="2400" b="1" dirty="0">
                <a:solidFill>
                  <a:schemeClr val="accent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chemeClr val="accent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Chennai-602105</a:t>
            </a:r>
            <a:r>
              <a:rPr lang="en-US" sz="1600" b="1" dirty="0">
                <a:solidFill>
                  <a:schemeClr val="accent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IN" sz="28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41915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B656F1-FC11-A9D7-7B5B-B3B7B89186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5899" y="53618"/>
            <a:ext cx="5390244" cy="1325563"/>
          </a:xfrm>
        </p:spPr>
        <p:txBody>
          <a:bodyPr>
            <a:norm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DBM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E76801-4553-738C-B8EC-7B94C199A8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lnSpc>
                <a:spcPct val="15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Boltzmann Machine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generative neural network used to learn complex patterns and representations from data.</a:t>
            </a:r>
          </a:p>
          <a:p>
            <a:pPr lvl="0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an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unsupervised learning model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contains multiple hidden layers. </a:t>
            </a:r>
          </a:p>
          <a:p>
            <a:pPr lvl="0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learns hierarchical features. </a:t>
            </a:r>
          </a:p>
          <a:p>
            <a:pPr lvl="0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uses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undirected connections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between adjacent layers. </a:t>
            </a:r>
          </a:p>
          <a:p>
            <a:pPr lvl="0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can model complex probability distributions. </a:t>
            </a:r>
          </a:p>
          <a:p>
            <a:pPr>
              <a:lnSpc>
                <a:spcPct val="15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→ Basic features → Shapes → Objects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E2364F-6EC7-831C-EAA4-E54A9A3E96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603" y="148019"/>
            <a:ext cx="909638" cy="10348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D8934F0F-8556-27DD-3537-11CDAE9B3D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8453" y="53618"/>
            <a:ext cx="909637" cy="1129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009226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7595556-3C26-A6A8-2B69-7A02C5B261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603" y="148019"/>
            <a:ext cx="909638" cy="10348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C311FF92-52AF-080D-7F00-483E112B56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8453" y="53618"/>
            <a:ext cx="909637" cy="1129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75F84A4-E863-2E15-D025-DB6281A314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12489" y="996828"/>
            <a:ext cx="9666339" cy="5458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2794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A23738-CA63-D074-1605-8830FFC8EB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23869" y="53618"/>
            <a:ext cx="8032955" cy="1325563"/>
          </a:xfrm>
        </p:spPr>
        <p:txBody>
          <a:bodyPr>
            <a:norm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Interaction Between Layers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0339E8-B2A5-589E-90C3-1F7A03714A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DBM layers interact through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symmetric connections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Visible layer sends information to H1. </a:t>
            </a:r>
          </a:p>
          <a:p>
            <a:pPr lvl="0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H1 communicates with both visible layer and H2. </a:t>
            </a:r>
          </a:p>
          <a:p>
            <a:pPr lvl="0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H2 provides higher-level information back to H1. </a:t>
            </a:r>
          </a:p>
          <a:p>
            <a:pPr lvl="0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 can flow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upward and downward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layer learns different levels of representation. </a:t>
            </a:r>
          </a:p>
          <a:p>
            <a:pPr>
              <a:lnSpc>
                <a:spcPct val="15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Pixels → Edges → Shapes → Object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allows DBM to learn complex features automatically.</a:t>
            </a:r>
          </a:p>
          <a:p>
            <a:endParaRPr lang="en-IN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B183D6C9-338D-85E8-B8C2-E1043AB8A9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8453" y="53618"/>
            <a:ext cx="909637" cy="1129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2A160D0-6C76-7228-329F-FC6A423191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603" y="148019"/>
            <a:ext cx="909638" cy="10348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561171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66137-F08E-0E38-B2E8-802B3AE7FC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41754" y="148019"/>
            <a:ext cx="8160775" cy="1325563"/>
          </a:xfrm>
        </p:spPr>
        <p:txBody>
          <a:bodyPr>
            <a:norm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Mechanism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60068F-5A28-1E89-C76C-1630F57306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DBM learns using </a:t>
            </a: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energy-based probabilistic learning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steps:</a:t>
            </a:r>
          </a:p>
          <a:p>
            <a:pPr lvl="0"/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data is given to the visible layer. </a:t>
            </a:r>
          </a:p>
          <a:p>
            <a:pPr lvl="0"/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Hidden layers calculate probability distributions. </a:t>
            </a:r>
          </a:p>
          <a:p>
            <a:pPr lvl="0"/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Hidden units are activated probabilistically. </a:t>
            </a:r>
          </a:p>
          <a:p>
            <a:pPr lvl="0"/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model reconstructs the input. </a:t>
            </a:r>
          </a:p>
          <a:p>
            <a:pPr lvl="0"/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difference between data and model distribution is calculated. </a:t>
            </a:r>
          </a:p>
          <a:p>
            <a:pPr lvl="0"/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Weights are updated. </a:t>
            </a:r>
          </a:p>
          <a:p>
            <a:pPr lvl="0"/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process is repeated until the model learns a good representation. </a:t>
            </a:r>
          </a:p>
          <a:p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concept: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Lower energy = more likely configuration.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7147074-7AFE-4227-E3BA-55D48D61E0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603" y="148019"/>
            <a:ext cx="909638" cy="10348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2DF5819D-618E-74E9-AD83-BF21F6065B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8453" y="53618"/>
            <a:ext cx="909637" cy="1129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616764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27A867-CE8E-2C89-73A8-B04161868F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1586" y="53618"/>
            <a:ext cx="7688827" cy="1325563"/>
          </a:xfrm>
        </p:spPr>
        <p:txBody>
          <a:bodyPr>
            <a:norm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DBM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8A7B03-FBEE-9B5A-91FA-2005B97E38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603" y="148019"/>
            <a:ext cx="909638" cy="10348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F939FF3B-1DE7-5556-1EF8-9BA836ED2A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8453" y="53618"/>
            <a:ext cx="909637" cy="1129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6ABF82D-582D-7B79-EC9D-859D77D551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Learns hierarchical representations. </a:t>
            </a:r>
          </a:p>
          <a:p>
            <a:pPr lvl="0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complex data distributions. </a:t>
            </a:r>
          </a:p>
          <a:p>
            <a:pPr lvl="0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Useful for unsupervised feature learning. </a:t>
            </a:r>
          </a:p>
          <a:p>
            <a:pPr lvl="0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capture high-level relationships. </a:t>
            </a:r>
          </a:p>
          <a:p>
            <a:pPr lvl="0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powerful probabilistic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modeling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255778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1747B-7055-EBB8-36BF-E50F6F15F9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22089" y="435589"/>
            <a:ext cx="7600337" cy="747253"/>
          </a:xfrm>
        </p:spPr>
        <p:txBody>
          <a:bodyPr>
            <a:normAutofit fontScale="90000"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Practical Application: Image Recognition</a:t>
            </a:r>
            <a:br>
              <a:rPr lang="en-IN" b="1" dirty="0"/>
            </a:b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EF204C6-E22A-853B-DFDF-E89471EFDB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603" y="148019"/>
            <a:ext cx="909638" cy="10348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C501C1A5-0958-844E-5D35-08ABC2EEDD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8453" y="53618"/>
            <a:ext cx="909637" cy="1129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FFBD446-A344-0697-1C0B-273666780DAD}"/>
              </a:ext>
            </a:extLst>
          </p:cNvPr>
          <p:cNvSpPr txBox="1"/>
          <p:nvPr/>
        </p:nvSpPr>
        <p:spPr>
          <a:xfrm>
            <a:off x="1091215" y="1182842"/>
            <a:ext cx="9242489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Application: Handwritten Digit Recognition</a:t>
            </a:r>
            <a:endParaRPr lang="en-IN" dirty="0"/>
          </a:p>
          <a:p>
            <a:pPr>
              <a:buNone/>
            </a:pPr>
            <a:r>
              <a:rPr lang="en-IN" dirty="0"/>
              <a:t>DBM can learn features from handwritten digit images.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Digit Image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     ↓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Visible Layer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     ↓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Hidden Layer 1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     ↓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Edges and simple patterns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     ↓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Hidden Layer 2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     ↓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Shapes and digit patterns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     ↓</a:t>
            </a:r>
          </a:p>
          <a:p>
            <a:pPr rtl="0">
              <a:buNone/>
            </a:pPr>
            <a:r>
              <a:rPr lang="en-IN" dirty="0">
                <a:latin typeface="+mn-lt"/>
              </a:rPr>
              <a:t>Classification</a:t>
            </a:r>
          </a:p>
          <a:p>
            <a:pPr>
              <a:buNone/>
            </a:pPr>
            <a:r>
              <a:rPr lang="en-IN" b="1" dirty="0"/>
              <a:t>Why DBM is suitable?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Images contain complex patterns.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DBM automatically learns hierarchical features.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It can learn without requiring large amounts of </a:t>
            </a:r>
            <a:r>
              <a:rPr lang="en-IN" dirty="0" err="1"/>
              <a:t>labeled</a:t>
            </a:r>
            <a:r>
              <a:rPr lang="en-IN" dirty="0"/>
              <a:t> data.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Learned representations can be used for classification.</a:t>
            </a:r>
          </a:p>
        </p:txBody>
      </p:sp>
    </p:spTree>
    <p:extLst>
      <p:ext uri="{BB962C8B-B14F-4D97-AF65-F5344CB8AC3E}">
        <p14:creationId xmlns:p14="http://schemas.microsoft.com/office/powerpoint/2010/main" val="18642240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DE5FE8-11F1-9604-EE1F-E9B58B13E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1743" y="217641"/>
            <a:ext cx="3964567" cy="1129225"/>
          </a:xfrm>
        </p:spPr>
        <p:txBody>
          <a:bodyPr>
            <a:norm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D99949-A4EE-F1B9-DAE9-05F4E3ECBE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0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DBM is a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probabilistic generative model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contains multiple hidden layers. </a:t>
            </a:r>
          </a:p>
          <a:p>
            <a:pPr lvl="0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uses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undirected connections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between adjacent layers. </a:t>
            </a:r>
          </a:p>
          <a:p>
            <a:pPr lvl="0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learns hierarchical representations. </a:t>
            </a:r>
          </a:p>
          <a:p>
            <a:pPr lvl="0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more powerful than a conventional shallow Boltzmann Machine. </a:t>
            </a:r>
          </a:p>
          <a:p>
            <a:pPr lvl="0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DBM is useful for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recognition, recommendation systems, and feature learning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585012-EF2E-6393-5C7E-6A1D3A8ABC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603" y="148019"/>
            <a:ext cx="909638" cy="10348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BD9E0077-C366-8CF2-35F5-354CC5630F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8453" y="53618"/>
            <a:ext cx="909637" cy="1129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182630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414</Words>
  <Application>Microsoft Office PowerPoint</Application>
  <PresentationFormat>Widescreen</PresentationFormat>
  <Paragraphs>70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Times New Roman</vt:lpstr>
      <vt:lpstr>Office Theme</vt:lpstr>
      <vt:lpstr>Deep Boltzmann Machines: Architecture, Learning Mechanism and Applications </vt:lpstr>
      <vt:lpstr>Introduction to DBM</vt:lpstr>
      <vt:lpstr>PowerPoint Presentation</vt:lpstr>
      <vt:lpstr>Interaction Between Layers</vt:lpstr>
      <vt:lpstr>Learning Mechanism</vt:lpstr>
      <vt:lpstr>Advantages of DBM</vt:lpstr>
      <vt:lpstr>Practical Application: Image Recognition 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sree latha</dc:creator>
  <cp:lastModifiedBy>sree latha</cp:lastModifiedBy>
  <cp:revision>1</cp:revision>
  <dcterms:created xsi:type="dcterms:W3CDTF">2026-08-25T09:04:07Z</dcterms:created>
  <dcterms:modified xsi:type="dcterms:W3CDTF">2026-08-25T09:05:16Z</dcterms:modified>
</cp:coreProperties>
</file>